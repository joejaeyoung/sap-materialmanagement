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8288000" cy="10287000"/>
  <p:notesSz cx="6858000" cy="9144000"/>
  <p:embeddedFontLst>
    <p:embeddedFont>
      <p:font typeface="Pretendard Regular" panose="02000503000000020004" pitchFamily="2" charset="-127"/>
      <p:regular r:id="rId18"/>
    </p:embeddedFont>
    <p:embeddedFont>
      <p:font typeface="맑은 고딕" panose="020B0503020000020004" pitchFamily="34" charset="-127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2" autoAdjust="0"/>
    <p:restoredTop sz="96247" autoAdjust="0"/>
  </p:normalViewPr>
  <p:slideViewPr>
    <p:cSldViewPr>
      <p:cViewPr>
        <p:scale>
          <a:sx n="57" d="100"/>
          <a:sy n="57" d="100"/>
        </p:scale>
        <p:origin x="144" y="1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4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4.png"/><Relationship Id="rId5" Type="http://schemas.openxmlformats.org/officeDocument/2006/relationships/image" Target="../media/image24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5.png"/><Relationship Id="rId5" Type="http://schemas.openxmlformats.org/officeDocument/2006/relationships/image" Target="../media/image24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6.png"/><Relationship Id="rId5" Type="http://schemas.openxmlformats.org/officeDocument/2006/relationships/image" Target="../media/image24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0" y="4927600"/>
            <a:ext cx="71501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7429500" y="6807200"/>
            <a:ext cx="3429000" cy="673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562600" y="3873500"/>
            <a:ext cx="71628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6000" b="0" i="0" u="none" strike="noStrike" spc="-400" dirty="0">
                <a:solidFill>
                  <a:srgbClr val="6A7E74"/>
                </a:solidFill>
                <a:latin typeface="+mj-ea"/>
                <a:ea typeface="+mj-ea"/>
              </a:rPr>
              <a:t>숭실대학교</a:t>
            </a:r>
            <a:r>
              <a:rPr lang="en-US" sz="6000" b="0" i="0" u="none" strike="noStrike" spc="-400" dirty="0">
                <a:solidFill>
                  <a:srgbClr val="6A7E74"/>
                </a:solidFill>
                <a:latin typeface="+mj-ea"/>
                <a:ea typeface="+mj-ea"/>
              </a:rPr>
              <a:t> 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35400" y="4991100"/>
            <a:ext cx="106172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9000" b="0" i="0" u="none" strike="noStrike" spc="-100" dirty="0">
                <a:solidFill>
                  <a:srgbClr val="6A7E74"/>
                </a:solidFill>
                <a:latin typeface="+mn-ea"/>
              </a:rPr>
              <a:t>SAP Track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21600" y="6946900"/>
            <a:ext cx="2844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 dirty="0">
                <a:solidFill>
                  <a:srgbClr val="466456"/>
                </a:solidFill>
                <a:ea typeface="Pretendard Regular"/>
              </a:rPr>
              <a:t>컴퓨터학부</a:t>
            </a:r>
            <a:r>
              <a:rPr lang="en-US" sz="2400" b="0" i="0" u="none" strike="noStrike" dirty="0">
                <a:solidFill>
                  <a:srgbClr val="466456"/>
                </a:solidFill>
                <a:latin typeface="Pretendard Regular"/>
              </a:rPr>
              <a:t> | </a:t>
            </a:r>
            <a:r>
              <a:rPr lang="ko-KR" sz="2400" b="0" i="0" u="none" strike="noStrike" dirty="0">
                <a:solidFill>
                  <a:srgbClr val="466456"/>
                </a:solidFill>
                <a:ea typeface="Pretendard Regular"/>
              </a:rPr>
              <a:t>조재영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298700"/>
            <a:ext cx="88900" cy="673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667000" y="2133600"/>
            <a:ext cx="45212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6000" b="0" i="0" u="none" strike="noStrike" spc="-200" dirty="0">
                <a:solidFill>
                  <a:srgbClr val="466456"/>
                </a:solidFill>
                <a:latin typeface="+mn-ea"/>
              </a:rPr>
              <a:t>목차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148364"/>
              </p:ext>
            </p:extLst>
          </p:nvPr>
        </p:nvGraphicFramePr>
        <p:xfrm>
          <a:off x="9144000" y="1778000"/>
          <a:ext cx="9004300" cy="6731000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462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A7E74"/>
                          </a:solidFill>
                          <a:latin typeface="+mn-ea"/>
                          <a:ea typeface="+mn-ea"/>
                        </a:rPr>
                        <a:t>Chapter 1. 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sz="3200" b="0" i="0" u="none" strike="noStrike" dirty="0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프로젝트</a:t>
                      </a:r>
                      <a:r>
                        <a:rPr lang="en-US" sz="3200" b="0" i="0" u="none" strike="noStrike" dirty="0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3200" b="0" i="0" u="none" strike="noStrike" dirty="0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시나리오</a:t>
                      </a:r>
                      <a:endParaRPr lang="en-US" sz="1100" dirty="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62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A7E74"/>
                          </a:solidFill>
                          <a:latin typeface="+mn-ea"/>
                          <a:ea typeface="+mn-ea"/>
                        </a:rPr>
                        <a:t>Chapter 2. 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sz="3200" b="0" i="0" u="none" strike="noStrike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구매처</a:t>
                      </a:r>
                      <a:r>
                        <a:rPr lang="en-US" sz="3200" b="0" i="0" u="none" strike="noStrike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3200" b="0" i="0" u="none" strike="noStrike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생성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A7E74"/>
                          </a:solidFill>
                          <a:latin typeface="+mn-ea"/>
                          <a:ea typeface="+mn-ea"/>
                        </a:rPr>
                        <a:t>Chapter 3. 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sz="3200" b="0" i="0" u="none" strike="noStrike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구매오더</a:t>
                      </a:r>
                      <a:r>
                        <a:rPr lang="en-US" sz="3200" b="0" i="0" u="none" strike="noStrike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3200" b="0" i="0" u="none" strike="noStrike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생성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62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A7E74"/>
                          </a:solidFill>
                          <a:latin typeface="+mn-ea"/>
                          <a:ea typeface="+mn-ea"/>
                        </a:rPr>
                        <a:t>Chapter 4. 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sz="3200" b="0" i="0" u="none" strike="noStrike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입고</a:t>
                      </a:r>
                      <a:r>
                        <a:rPr lang="en-US" sz="3200" b="0" i="0" u="none" strike="noStrike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3200" b="0" i="0" u="none" strike="noStrike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62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A7E74"/>
                          </a:solidFill>
                          <a:latin typeface="+mn-ea"/>
                          <a:ea typeface="+mn-ea"/>
                        </a:rPr>
                        <a:t>Chapter 5. 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sz="3200" b="0" i="0" u="none" strike="noStrike" dirty="0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송장</a:t>
                      </a:r>
                      <a:endParaRPr lang="en-US" sz="1100" dirty="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0" y="4927600"/>
            <a:ext cx="71501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562600" y="3873500"/>
            <a:ext cx="71628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000" b="0" i="0" u="none" strike="noStrike" spc="-400" dirty="0">
                <a:solidFill>
                  <a:srgbClr val="6A7E74"/>
                </a:solidFill>
                <a:latin typeface="+mj-ea"/>
                <a:ea typeface="+mj-ea"/>
              </a:rPr>
              <a:t>1. </a:t>
            </a:r>
            <a:r>
              <a:rPr lang="ko-KR" sz="6000" b="0" i="0" u="none" strike="noStrike" spc="-400" dirty="0">
                <a:solidFill>
                  <a:srgbClr val="6A7E74"/>
                </a:solidFill>
                <a:latin typeface="+mj-ea"/>
                <a:ea typeface="+mj-ea"/>
              </a:rPr>
              <a:t>프로젝트</a:t>
            </a:r>
            <a:r>
              <a:rPr lang="en-US" sz="6000" b="0" i="0" u="none" strike="noStrike" spc="-400" dirty="0">
                <a:solidFill>
                  <a:srgbClr val="6A7E74"/>
                </a:solidFill>
                <a:latin typeface="+mj-ea"/>
                <a:ea typeface="+mj-ea"/>
              </a:rPr>
              <a:t> </a:t>
            </a:r>
            <a:r>
              <a:rPr lang="ko-KR" sz="6000" b="0" i="0" u="none" strike="noStrike" spc="-400" dirty="0">
                <a:solidFill>
                  <a:srgbClr val="6A7E74"/>
                </a:solidFill>
                <a:latin typeface="+mj-ea"/>
                <a:ea typeface="+mj-ea"/>
              </a:rPr>
              <a:t>시나리오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68400"/>
            <a:ext cx="163830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65200" y="774700"/>
            <a:ext cx="44196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spc="-100">
                <a:solidFill>
                  <a:srgbClr val="BACCC3"/>
                </a:solidFill>
                <a:latin typeface="+mn-ea"/>
              </a:rPr>
              <a:t>Chapter 1.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60600" y="482600"/>
            <a:ext cx="7112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프로젝트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시나리오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-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주제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선정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1333500"/>
            <a:ext cx="3619500" cy="3619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353300" y="2844800"/>
            <a:ext cx="32639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600" b="0" i="0" u="none" strike="noStrike" spc="-100">
                <a:solidFill>
                  <a:srgbClr val="466456"/>
                </a:solidFill>
                <a:latin typeface="+mn-ea"/>
              </a:rPr>
              <a:t>원자재</a:t>
            </a:r>
            <a:r>
              <a:rPr lang="en-US" sz="3600" b="0" i="0" u="none" strike="noStrike" spc="-100">
                <a:solidFill>
                  <a:srgbClr val="466456"/>
                </a:solidFill>
                <a:latin typeface="+mn-ea"/>
              </a:rPr>
              <a:t> </a:t>
            </a:r>
            <a:r>
              <a:rPr lang="ko-KR" sz="3600" b="0" i="0" u="none" strike="noStrike" spc="-100">
                <a:solidFill>
                  <a:srgbClr val="466456"/>
                </a:solidFill>
                <a:latin typeface="+mn-ea"/>
              </a:rPr>
              <a:t>사용</a:t>
            </a:r>
            <a:r>
              <a:rPr lang="en-US" sz="3600" b="0" i="0" u="none" strike="noStrike" spc="-100">
                <a:solidFill>
                  <a:srgbClr val="466456"/>
                </a:solidFill>
                <a:latin typeface="+mn-ea"/>
              </a:rPr>
              <a:t> </a:t>
            </a:r>
            <a:r>
              <a:rPr lang="ko-KR" sz="3600" b="0" i="0" u="none" strike="noStrike" spc="-100">
                <a:solidFill>
                  <a:srgbClr val="466456"/>
                </a:solidFill>
                <a:latin typeface="+mn-ea"/>
              </a:rPr>
              <a:t>여부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6286500"/>
            <a:ext cx="3619500" cy="3619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597400" y="7797800"/>
            <a:ext cx="32639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600" b="0" i="0" u="none" strike="noStrike" spc="-100">
                <a:solidFill>
                  <a:srgbClr val="466456"/>
                </a:solidFill>
                <a:latin typeface="+mn-ea"/>
              </a:rPr>
              <a:t>다양한</a:t>
            </a:r>
            <a:r>
              <a:rPr lang="en-US" sz="3600" b="0" i="0" u="none" strike="noStrike" spc="-100">
                <a:solidFill>
                  <a:srgbClr val="466456"/>
                </a:solidFill>
                <a:latin typeface="+mn-ea"/>
              </a:rPr>
              <a:t> </a:t>
            </a:r>
            <a:r>
              <a:rPr lang="ko-KR" sz="3600" b="0" i="0" u="none" strike="noStrike" spc="-100">
                <a:solidFill>
                  <a:srgbClr val="466456"/>
                </a:solidFill>
                <a:latin typeface="+mn-ea"/>
              </a:rPr>
              <a:t>창고</a:t>
            </a:r>
            <a:r>
              <a:rPr lang="en-US" sz="3600" b="0" i="0" u="none" strike="noStrike" spc="-100">
                <a:solidFill>
                  <a:srgbClr val="466456"/>
                </a:solidFill>
                <a:latin typeface="+mn-ea"/>
              </a:rPr>
              <a:t> </a:t>
            </a:r>
            <a:r>
              <a:rPr lang="ko-KR" sz="3600" b="0" i="0" u="none" strike="noStrike" spc="-100">
                <a:solidFill>
                  <a:srgbClr val="466456"/>
                </a:solidFill>
                <a:latin typeface="+mn-ea"/>
              </a:rPr>
              <a:t>유형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5700" y="6261100"/>
            <a:ext cx="3619500" cy="3619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210800" y="7772400"/>
            <a:ext cx="32639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600" b="0" i="0" u="none" strike="noStrike" spc="-100">
                <a:solidFill>
                  <a:srgbClr val="466456"/>
                </a:solidFill>
                <a:latin typeface="+mn-ea"/>
              </a:rPr>
              <a:t>다양한</a:t>
            </a:r>
            <a:r>
              <a:rPr lang="en-US" sz="3600" b="0" i="0" u="none" strike="noStrike" spc="-100">
                <a:solidFill>
                  <a:srgbClr val="466456"/>
                </a:solidFill>
                <a:latin typeface="+mn-ea"/>
              </a:rPr>
              <a:t> </a:t>
            </a:r>
            <a:r>
              <a:rPr lang="ko-KR" sz="3600" b="0" i="0" u="none" strike="noStrike" spc="-100">
                <a:solidFill>
                  <a:srgbClr val="466456"/>
                </a:solidFill>
                <a:latin typeface="+mn-ea"/>
              </a:rPr>
              <a:t>공장</a:t>
            </a:r>
            <a:r>
              <a:rPr lang="en-US" sz="3600" b="0" i="0" u="none" strike="noStrike" spc="-100">
                <a:solidFill>
                  <a:srgbClr val="466456"/>
                </a:solidFill>
                <a:latin typeface="+mn-ea"/>
              </a:rPr>
              <a:t> </a:t>
            </a:r>
            <a:r>
              <a:rPr lang="ko-KR" sz="3600" b="0" i="0" u="none" strike="noStrike" spc="-100">
                <a:solidFill>
                  <a:srgbClr val="466456"/>
                </a:solidFill>
                <a:latin typeface="+mn-ea"/>
              </a:rPr>
              <a:t>위치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4406900"/>
            <a:ext cx="3619500" cy="3619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7289800" y="5918200"/>
            <a:ext cx="34417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600" b="0" i="0" u="none" strike="noStrike" spc="-100">
                <a:solidFill>
                  <a:srgbClr val="FFFFFF"/>
                </a:solidFill>
                <a:latin typeface="+mn-ea"/>
              </a:rPr>
              <a:t>빙그레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68400"/>
            <a:ext cx="163830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65200" y="774700"/>
            <a:ext cx="44196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spc="-100">
                <a:solidFill>
                  <a:srgbClr val="BACCC3"/>
                </a:solidFill>
                <a:latin typeface="+mn-ea"/>
              </a:rPr>
              <a:t>Chapter 1.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60600" y="482600"/>
            <a:ext cx="6197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프로젝트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시나리오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-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플랜트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6324600" y="2705100"/>
            <a:ext cx="5638800" cy="5638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700" y="2489200"/>
            <a:ext cx="2933700" cy="2933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5600" y="2489200"/>
            <a:ext cx="2933700" cy="2933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4300" y="2908300"/>
            <a:ext cx="3911600" cy="256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700" y="5626100"/>
            <a:ext cx="2933700" cy="2933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5600" y="5626100"/>
            <a:ext cx="2933700" cy="2933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299200" y="3302000"/>
            <a:ext cx="2552700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0429"/>
              </a:lnSpc>
            </a:pPr>
            <a:r>
              <a:rPr lang="ko-KR" sz="4300" b="0" i="0" u="none" strike="noStrike" spc="-300">
                <a:solidFill>
                  <a:srgbClr val="515050"/>
                </a:solidFill>
                <a:latin typeface="+mn-ea"/>
              </a:rPr>
              <a:t>서울</a:t>
            </a:r>
            <a:r>
              <a:rPr lang="en-US" sz="4300" b="0" i="0" u="none" strike="noStrike" spc="-300">
                <a:solidFill>
                  <a:srgbClr val="515050"/>
                </a:solidFill>
                <a:latin typeface="+mn-ea"/>
              </a:rPr>
              <a:t> </a:t>
            </a:r>
            <a:r>
              <a:rPr lang="ko-KR" sz="4300" b="0" i="0" u="none" strike="noStrike" spc="-300">
                <a:solidFill>
                  <a:srgbClr val="515050"/>
                </a:solidFill>
                <a:latin typeface="+mn-ea"/>
              </a:rPr>
              <a:t>공장</a:t>
            </a:r>
          </a:p>
          <a:p>
            <a:pPr lvl="0" algn="ctr">
              <a:lnSpc>
                <a:spcPct val="100429"/>
              </a:lnSpc>
            </a:pPr>
            <a:r>
              <a:rPr lang="ko-KR" sz="4300" b="0" i="0" u="none" strike="noStrike" spc="-300">
                <a:solidFill>
                  <a:srgbClr val="515050"/>
                </a:solidFill>
                <a:latin typeface="+mn-ea"/>
              </a:rPr>
              <a:t>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99200" y="6438900"/>
            <a:ext cx="2552700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0429"/>
              </a:lnSpc>
            </a:pPr>
            <a:r>
              <a:rPr lang="ko-KR" sz="4300" b="0" i="0" u="none" strike="noStrike" spc="-300">
                <a:solidFill>
                  <a:srgbClr val="FFFFFF"/>
                </a:solidFill>
                <a:latin typeface="+mn-ea"/>
              </a:rPr>
              <a:t>대전</a:t>
            </a:r>
            <a:r>
              <a:rPr lang="en-US" sz="4300" b="0" i="0" u="none" strike="noStrike" spc="-300">
                <a:solidFill>
                  <a:srgbClr val="FFFFFF"/>
                </a:solidFill>
                <a:latin typeface="+mn-ea"/>
              </a:rPr>
              <a:t> </a:t>
            </a:r>
            <a:r>
              <a:rPr lang="ko-KR" sz="4300" b="0" i="0" u="none" strike="noStrike" spc="-300">
                <a:solidFill>
                  <a:srgbClr val="FFFFFF"/>
                </a:solidFill>
                <a:latin typeface="+mn-ea"/>
              </a:rPr>
              <a:t>공장</a:t>
            </a:r>
          </a:p>
          <a:p>
            <a:pPr lvl="0" algn="ctr">
              <a:lnSpc>
                <a:spcPct val="100429"/>
              </a:lnSpc>
            </a:pPr>
            <a:r>
              <a:rPr lang="ko-KR" sz="4300" b="0" i="0" u="none" strike="noStrike" spc="-300">
                <a:solidFill>
                  <a:srgbClr val="FFFFFF"/>
                </a:solidFill>
                <a:latin typeface="+mn-ea"/>
              </a:rPr>
              <a:t>요맘때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6100" y="6413500"/>
            <a:ext cx="2552700" cy="137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0429"/>
              </a:lnSpc>
            </a:pPr>
            <a:r>
              <a:rPr lang="ko-KR" sz="4300" b="0" i="0" u="none" strike="noStrike" spc="-300">
                <a:solidFill>
                  <a:srgbClr val="515050"/>
                </a:solidFill>
                <a:latin typeface="+mn-ea"/>
              </a:rPr>
              <a:t>부산</a:t>
            </a:r>
            <a:r>
              <a:rPr lang="en-US" sz="4300" b="0" i="0" u="none" strike="noStrike" spc="-300">
                <a:solidFill>
                  <a:srgbClr val="515050"/>
                </a:solidFill>
                <a:latin typeface="+mn-ea"/>
              </a:rPr>
              <a:t> </a:t>
            </a:r>
            <a:r>
              <a:rPr lang="ko-KR" sz="4300" b="0" i="0" u="none" strike="noStrike" spc="-300">
                <a:solidFill>
                  <a:srgbClr val="515050"/>
                </a:solidFill>
                <a:latin typeface="+mn-ea"/>
              </a:rPr>
              <a:t>공장</a:t>
            </a:r>
          </a:p>
          <a:p>
            <a:pPr lvl="0" algn="ctr">
              <a:lnSpc>
                <a:spcPct val="100429"/>
              </a:lnSpc>
            </a:pPr>
            <a:r>
              <a:rPr lang="ko-KR" sz="4300" b="0" i="0" u="none" strike="noStrike" spc="-300">
                <a:solidFill>
                  <a:srgbClr val="515050"/>
                </a:solidFill>
                <a:latin typeface="+mn-ea"/>
              </a:rPr>
              <a:t>뽕따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68400"/>
            <a:ext cx="163830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65200" y="774700"/>
            <a:ext cx="44196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spc="-100">
                <a:solidFill>
                  <a:srgbClr val="BACCC3"/>
                </a:solidFill>
                <a:latin typeface="+mn-ea"/>
              </a:rPr>
              <a:t>Chapter 1.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60600" y="482600"/>
            <a:ext cx="68834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프로젝트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시나리오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-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창고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유형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6200000">
            <a:off x="3797300" y="5943600"/>
            <a:ext cx="3759200" cy="101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900" y="5676900"/>
            <a:ext cx="977900" cy="10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200" y="7810500"/>
            <a:ext cx="965200" cy="101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4864100"/>
            <a:ext cx="2641600" cy="1727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6997700"/>
            <a:ext cx="2641600" cy="1727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0200" y="2540000"/>
            <a:ext cx="3594100" cy="17399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511800" y="3022600"/>
            <a:ext cx="33909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200" b="0" i="0" u="none" strike="noStrike">
                <a:solidFill>
                  <a:srgbClr val="FFFFFF"/>
                </a:solidFill>
                <a:latin typeface="+mn-ea"/>
              </a:rPr>
              <a:t>반품</a:t>
            </a:r>
            <a:r>
              <a:rPr lang="en-US" sz="4200" b="0" i="0" u="none" strike="noStrike">
                <a:solidFill>
                  <a:srgbClr val="FFFFFF"/>
                </a:solidFill>
                <a:latin typeface="+mn-ea"/>
              </a:rPr>
              <a:t> </a:t>
            </a:r>
            <a:r>
              <a:rPr lang="ko-KR" sz="4200" b="0" i="0" u="none" strike="noStrike">
                <a:solidFill>
                  <a:srgbClr val="FFFFFF"/>
                </a:solidFill>
                <a:latin typeface="+mn-ea"/>
              </a:rPr>
              <a:t>창고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13500" y="5448300"/>
            <a:ext cx="2552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100" b="0" i="0" u="none" strike="noStrike">
                <a:solidFill>
                  <a:srgbClr val="000000"/>
                </a:solidFill>
                <a:latin typeface="+mn-ea"/>
              </a:rPr>
              <a:t>상한</a:t>
            </a:r>
            <a:r>
              <a:rPr lang="en-US" sz="3100" b="0" i="0" u="none" strike="noStrike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latin typeface="+mn-ea"/>
              </a:rPr>
              <a:t>딸기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13500" y="7556500"/>
            <a:ext cx="2552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100" b="0" i="0" u="none" strike="noStrike">
                <a:solidFill>
                  <a:srgbClr val="000000"/>
                </a:solidFill>
                <a:latin typeface="+mn-ea"/>
              </a:rPr>
              <a:t>포장지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16200000">
            <a:off x="-406400" y="5943600"/>
            <a:ext cx="3759200" cy="101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0500" y="5676900"/>
            <a:ext cx="977900" cy="101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0500" y="7810500"/>
            <a:ext cx="965200" cy="101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59000" y="4864100"/>
            <a:ext cx="2641600" cy="1727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00" y="6997700"/>
            <a:ext cx="2641600" cy="1727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3800" y="2540000"/>
            <a:ext cx="3594100" cy="17399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308100" y="3073400"/>
            <a:ext cx="33909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200" b="0" i="0" u="none" strike="noStrike">
                <a:solidFill>
                  <a:srgbClr val="FFFFFF"/>
                </a:solidFill>
                <a:latin typeface="+mn-ea"/>
              </a:rPr>
              <a:t>일반</a:t>
            </a:r>
            <a:r>
              <a:rPr lang="en-US" sz="4200" b="0" i="0" u="none" strike="noStrike">
                <a:solidFill>
                  <a:srgbClr val="FFFFFF"/>
                </a:solidFill>
                <a:latin typeface="+mn-ea"/>
              </a:rPr>
              <a:t> </a:t>
            </a:r>
            <a:r>
              <a:rPr lang="ko-KR" sz="4200" b="0" i="0" u="none" strike="noStrike">
                <a:solidFill>
                  <a:srgbClr val="FFFFFF"/>
                </a:solidFill>
                <a:latin typeface="+mn-ea"/>
              </a:rPr>
              <a:t>창고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97100" y="5448300"/>
            <a:ext cx="2552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100" b="0" i="0" u="none" strike="noStrike">
                <a:solidFill>
                  <a:srgbClr val="000000"/>
                </a:solidFill>
                <a:latin typeface="+mn-ea"/>
              </a:rPr>
              <a:t>포장지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97100" y="7556500"/>
            <a:ext cx="2552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100" b="0" i="0" u="none" strike="noStrike">
                <a:solidFill>
                  <a:srgbClr val="000000"/>
                </a:solidFill>
                <a:latin typeface="+mn-ea"/>
              </a:rPr>
              <a:t>시럽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6200000">
            <a:off x="12128500" y="5943600"/>
            <a:ext cx="3759200" cy="101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8100" y="5676900"/>
            <a:ext cx="977900" cy="101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95400" y="7810500"/>
            <a:ext cx="965200" cy="1016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3900" y="4864100"/>
            <a:ext cx="2641600" cy="1727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3900" y="6997700"/>
            <a:ext cx="2641600" cy="1727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41400" y="2540000"/>
            <a:ext cx="3594100" cy="17399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3843000" y="3022600"/>
            <a:ext cx="33909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200" b="0" i="0" u="none" strike="noStrike">
                <a:solidFill>
                  <a:srgbClr val="FFFFFF"/>
                </a:solidFill>
                <a:latin typeface="+mn-ea"/>
              </a:rPr>
              <a:t>냉장</a:t>
            </a:r>
            <a:r>
              <a:rPr lang="en-US" sz="4200" b="0" i="0" u="none" strike="noStrike">
                <a:solidFill>
                  <a:srgbClr val="FFFFFF"/>
                </a:solidFill>
                <a:latin typeface="+mn-ea"/>
              </a:rPr>
              <a:t> </a:t>
            </a:r>
            <a:r>
              <a:rPr lang="ko-KR" sz="4200" b="0" i="0" u="none" strike="noStrike">
                <a:solidFill>
                  <a:srgbClr val="FFFFFF"/>
                </a:solidFill>
                <a:latin typeface="+mn-ea"/>
              </a:rPr>
              <a:t>창고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744700" y="5448300"/>
            <a:ext cx="2552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100" b="0" i="0" u="none" strike="noStrike">
                <a:solidFill>
                  <a:srgbClr val="000000"/>
                </a:solidFill>
                <a:latin typeface="+mn-ea"/>
              </a:rPr>
              <a:t>원유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744700" y="7556500"/>
            <a:ext cx="2552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100" b="0" i="0" u="none" strike="noStrike">
                <a:solidFill>
                  <a:srgbClr val="000000"/>
                </a:solidFill>
                <a:latin typeface="+mn-ea"/>
              </a:rPr>
              <a:t>딸기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16200000">
            <a:off x="7924800" y="5943600"/>
            <a:ext cx="3759200" cy="1016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4400" y="5676900"/>
            <a:ext cx="977900" cy="1016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91700" y="7810500"/>
            <a:ext cx="965200" cy="1016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90200" y="4864100"/>
            <a:ext cx="2641600" cy="17272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0200" y="6997700"/>
            <a:ext cx="2641600" cy="17272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37700" y="2540000"/>
            <a:ext cx="3594100" cy="17399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9639300" y="3022600"/>
            <a:ext cx="33909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200" b="0" i="0" u="none" strike="noStrike">
                <a:solidFill>
                  <a:srgbClr val="FFFFFF"/>
                </a:solidFill>
                <a:latin typeface="+mn-ea"/>
              </a:rPr>
              <a:t>냉동</a:t>
            </a:r>
            <a:r>
              <a:rPr lang="en-US" sz="4200" b="0" i="0" u="none" strike="noStrike">
                <a:solidFill>
                  <a:srgbClr val="FFFFFF"/>
                </a:solidFill>
                <a:latin typeface="+mn-ea"/>
              </a:rPr>
              <a:t> </a:t>
            </a:r>
            <a:r>
              <a:rPr lang="ko-KR" sz="4200" b="0" i="0" u="none" strike="noStrike">
                <a:solidFill>
                  <a:srgbClr val="FFFFFF"/>
                </a:solidFill>
                <a:latin typeface="+mn-ea"/>
              </a:rPr>
              <a:t>창고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541000" y="5486400"/>
            <a:ext cx="25400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700" b="0" i="0" u="none" strike="noStrike">
                <a:solidFill>
                  <a:srgbClr val="000000"/>
                </a:solidFill>
                <a:latin typeface="+mn-ea"/>
              </a:rPr>
              <a:t>아이스크림</a:t>
            </a:r>
            <a:r>
              <a:rPr lang="en-US" sz="2700" b="0" i="0" u="none" strike="noStrike">
                <a:solidFill>
                  <a:srgbClr val="000000"/>
                </a:solidFill>
                <a:latin typeface="+mn-ea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latin typeface="+mn-ea"/>
              </a:rPr>
              <a:t>완성품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795000" y="7683500"/>
            <a:ext cx="2159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000000"/>
                </a:solidFill>
                <a:latin typeface="+mn-ea"/>
              </a:rPr>
              <a:t>다른</a:t>
            </a:r>
            <a:r>
              <a:rPr lang="en-US" sz="2000" b="0" i="0" u="none" strike="noStrike">
                <a:solidFill>
                  <a:srgbClr val="000000"/>
                </a:solidFill>
                <a:latin typeface="+mn-ea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latin typeface="+mn-ea"/>
              </a:rPr>
              <a:t>공장</a:t>
            </a:r>
            <a:r>
              <a:rPr lang="en-US" sz="2000" b="0" i="0" u="none" strike="noStrike">
                <a:solidFill>
                  <a:srgbClr val="000000"/>
                </a:solidFill>
                <a:latin typeface="+mn-ea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latin typeface="+mn-ea"/>
              </a:rPr>
              <a:t>아이스크림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68400"/>
            <a:ext cx="163830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65200" y="774700"/>
            <a:ext cx="44196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spc="-100">
                <a:solidFill>
                  <a:srgbClr val="BACCC3"/>
                </a:solidFill>
                <a:latin typeface="+mn-ea"/>
              </a:rPr>
              <a:t>Chapter 1.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60600" y="482600"/>
            <a:ext cx="9017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프로젝트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시나리오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-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자재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이동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시나리오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2451100"/>
            <a:ext cx="15621000" cy="1244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0" y="2590800"/>
            <a:ext cx="9525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800" y="3975100"/>
            <a:ext cx="15621000" cy="1244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0" y="4114800"/>
            <a:ext cx="952500" cy="952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5486400"/>
            <a:ext cx="15621000" cy="1244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0" y="5626100"/>
            <a:ext cx="9525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800" y="7010400"/>
            <a:ext cx="15621000" cy="1244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0" y="7150100"/>
            <a:ext cx="952500" cy="952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816100" y="2832100"/>
            <a:ext cx="2540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6A7E74"/>
                </a:solidFill>
                <a:latin typeface="+mn-ea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78000" y="4356100"/>
            <a:ext cx="330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6A7E74"/>
                </a:solidFill>
                <a:latin typeface="+mn-ea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78000" y="5867400"/>
            <a:ext cx="304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6A7E74"/>
                </a:solidFill>
                <a:latin typeface="+mn-ea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65300" y="7391400"/>
            <a:ext cx="317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6A7E74"/>
                </a:solidFill>
                <a:latin typeface="+mn-ea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70200" y="2806700"/>
            <a:ext cx="123698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각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공장에서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구매처로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부터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받아온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제품을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통해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아이스크림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생산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19400" y="7366000"/>
            <a:ext cx="147828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각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공장에서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지역의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대형마트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혹은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대리점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(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소형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altLang="en-US" sz="3200" dirty="0">
                <a:solidFill>
                  <a:srgbClr val="FFFFFF"/>
                </a:solidFill>
                <a:latin typeface="+mn-ea"/>
              </a:rPr>
              <a:t>마트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)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으로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아이스크림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이동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70200" y="4330700"/>
            <a:ext cx="10007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생산된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아이스크림을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얼리기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위해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냉동창고로</a:t>
            </a:r>
            <a:r>
              <a:rPr 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FFFF"/>
                </a:solidFill>
                <a:latin typeface="+mn-ea"/>
              </a:rPr>
              <a:t>이동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06700" y="5842000"/>
            <a:ext cx="153289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전국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물류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균형을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맞추기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위해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완성된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en-US" sz="3200" b="0" i="0" u="none" strike="noStrike" dirty="0">
                <a:solidFill>
                  <a:srgbClr val="444444"/>
                </a:solidFill>
                <a:latin typeface="+mn-ea"/>
              </a:rPr>
              <a:t>제품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다른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지역의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공장의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창고로</a:t>
            </a:r>
            <a:r>
              <a:rPr 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444444"/>
                </a:solidFill>
                <a:latin typeface="+mn-ea"/>
              </a:rPr>
              <a:t>이동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312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0" y="4927600"/>
            <a:ext cx="71501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562600" y="3873500"/>
            <a:ext cx="71628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000" b="0" i="0" u="none" strike="noStrike" spc="-400">
                <a:solidFill>
                  <a:srgbClr val="6A7E74"/>
                </a:solidFill>
                <a:latin typeface="+mj-ea"/>
                <a:ea typeface="+mj-ea"/>
              </a:rPr>
              <a:t>2. </a:t>
            </a:r>
            <a:r>
              <a:rPr lang="ko-KR" sz="6000" b="0" i="0" u="none" strike="noStrike" spc="-400">
                <a:solidFill>
                  <a:srgbClr val="6A7E74"/>
                </a:solidFill>
                <a:latin typeface="+mj-ea"/>
                <a:ea typeface="+mj-ea"/>
              </a:rPr>
              <a:t>구매처</a:t>
            </a:r>
            <a:r>
              <a:rPr lang="en-US" sz="6000" b="0" i="0" u="none" strike="noStrike" spc="-400">
                <a:solidFill>
                  <a:srgbClr val="6A7E74"/>
                </a:solidFill>
                <a:latin typeface="+mj-ea"/>
                <a:ea typeface="+mj-ea"/>
              </a:rPr>
              <a:t> </a:t>
            </a:r>
            <a:r>
              <a:rPr lang="ko-KR" sz="6000" b="0" i="0" u="none" strike="noStrike" spc="-400">
                <a:solidFill>
                  <a:srgbClr val="6A7E74"/>
                </a:solidFill>
                <a:latin typeface="+mj-ea"/>
                <a:ea typeface="+mj-ea"/>
              </a:rPr>
              <a:t>생성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68400"/>
            <a:ext cx="163830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77900" y="774700"/>
            <a:ext cx="44196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spc="-100">
                <a:solidFill>
                  <a:srgbClr val="BACCC3"/>
                </a:solidFill>
                <a:latin typeface="+mn-ea"/>
              </a:rPr>
              <a:t>Chapter 2.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" y="1435100"/>
            <a:ext cx="16357600" cy="8115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260600" y="482600"/>
            <a:ext cx="73914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구매처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생성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- Technical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시나리오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0" y="7150100"/>
            <a:ext cx="9525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400" y="2908300"/>
            <a:ext cx="3949700" cy="646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" y="2857500"/>
            <a:ext cx="16154400" cy="88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473200" y="5410200"/>
            <a:ext cx="7823200" cy="8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600700" y="5448300"/>
            <a:ext cx="7823200" cy="88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600" y="4711700"/>
            <a:ext cx="7835900" cy="88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600" y="7061200"/>
            <a:ext cx="7835900" cy="88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7302500" y="6083300"/>
            <a:ext cx="6540500" cy="88900"/>
          </a:xfrm>
          <a:prstGeom prst="rect">
            <a:avLst/>
          </a:prstGeom>
        </p:spPr>
      </p:pic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571373"/>
              </p:ext>
            </p:extLst>
          </p:nvPr>
        </p:nvGraphicFramePr>
        <p:xfrm>
          <a:off x="952500" y="1435100"/>
          <a:ext cx="16370300" cy="8204200"/>
        </p:xfrm>
        <a:graphic>
          <a:graphicData uri="http://schemas.openxmlformats.org/drawingml/2006/table">
            <a:tbl>
              <a:tblPr/>
              <a:tblGrid>
                <a:gridCol w="472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33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0" i="0" u="none" strike="noStrike">
                          <a:solidFill>
                            <a:srgbClr val="595959"/>
                          </a:solidFill>
                          <a:latin typeface="+mn-ea"/>
                          <a:ea typeface="+mn-ea"/>
                        </a:rPr>
                        <a:t>흐름도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0" i="0" u="none" strike="noStrike">
                          <a:solidFill>
                            <a:srgbClr val="595959"/>
                          </a:solidFill>
                          <a:latin typeface="+mn-ea"/>
                          <a:ea typeface="+mn-ea"/>
                        </a:rPr>
                        <a:t>요구기능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0" i="0" u="none" strike="noStrike">
                          <a:solidFill>
                            <a:srgbClr val="595959"/>
                          </a:solidFill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en-US" sz="1800" b="0" i="0" u="none" strike="noStrike">
                          <a:solidFill>
                            <a:srgbClr val="595959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0" i="0" u="none" strike="noStrike">
                          <a:solidFill>
                            <a:srgbClr val="595959"/>
                          </a:solidFill>
                          <a:latin typeface="+mn-ea"/>
                          <a:ea typeface="+mn-ea"/>
                        </a:rPr>
                        <a:t>프로세스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0"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구매처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생성시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자동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700" b="0" i="0" u="none" strike="noStrike" dirty="0" err="1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채번</a:t>
                      </a:r>
                      <a:endParaRPr lang="en-US" sz="1100" dirty="0">
                        <a:latin typeface="+mn-ea"/>
                        <a:ea typeface="+mn-ea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100" dirty="0">
                        <a:latin typeface="+mn-ea"/>
                        <a:ea typeface="+mn-ea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계정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그룹에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따라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STCD1, 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STCD2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입력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필드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제어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ko-KR" sz="1700" b="0" i="0" u="none" strike="noStrike" dirty="0">
                        <a:solidFill>
                          <a:srgbClr val="787878"/>
                        </a:solidFill>
                        <a:latin typeface="+mn-ea"/>
                        <a:ea typeface="+mn-ea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조회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시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개인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번호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, 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사업자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번호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변경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가능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입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력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처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리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출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>
                          <a:solidFill>
                            <a:srgbClr val="787878"/>
                          </a:solidFill>
                          <a:latin typeface="+mn-ea"/>
                          <a:ea typeface="+mn-ea"/>
                        </a:rPr>
                        <a:t>력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>
                        <a:latin typeface="+mn-ea"/>
                        <a:ea typeface="+mn-ea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900" y="2489200"/>
            <a:ext cx="4368800" cy="7150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935804" y="3235325"/>
            <a:ext cx="24511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구매처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생성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회사코드</a:t>
            </a:r>
            <a:endParaRPr lang="en-US" altLang="ko-KR" sz="2200" dirty="0">
              <a:solidFill>
                <a:srgbClr val="444444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구매처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그룹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24503" y="5747854"/>
            <a:ext cx="14732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입력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생성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28800" y="3263900"/>
            <a:ext cx="24511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구매처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조회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구매처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코드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회사코드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50820" y="7988300"/>
            <a:ext cx="20320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구매처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생성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구매처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목록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60575" y="7988300"/>
            <a:ext cx="17907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구매처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조회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구매처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정보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024100" y="5689600"/>
            <a:ext cx="15875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조회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수정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0" y="4927600"/>
            <a:ext cx="71501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562600" y="3873500"/>
            <a:ext cx="71628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000" b="0" i="0" u="none" strike="noStrike" spc="-400">
                <a:solidFill>
                  <a:srgbClr val="6A7E74"/>
                </a:solidFill>
                <a:latin typeface="+mj-ea"/>
                <a:ea typeface="+mj-ea"/>
              </a:rPr>
              <a:t>3. PO </a:t>
            </a:r>
            <a:r>
              <a:rPr lang="ko-KR" sz="6000" b="0" i="0" u="none" strike="noStrike" spc="-400">
                <a:solidFill>
                  <a:srgbClr val="6A7E74"/>
                </a:solidFill>
                <a:latin typeface="+mj-ea"/>
                <a:ea typeface="+mj-ea"/>
              </a:rPr>
              <a:t>구매오더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68400"/>
            <a:ext cx="163830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77900" y="774700"/>
            <a:ext cx="44196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spc="-100">
                <a:solidFill>
                  <a:srgbClr val="BACCC3"/>
                </a:solidFill>
                <a:latin typeface="+mn-ea"/>
              </a:rPr>
              <a:t>Chapter 3.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" y="1435100"/>
            <a:ext cx="16357600" cy="8115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260600" y="482600"/>
            <a:ext cx="87122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spc="-100" dirty="0" err="1">
                <a:solidFill>
                  <a:srgbClr val="6A7E74"/>
                </a:solidFill>
                <a:latin typeface="+mn-ea"/>
              </a:rPr>
              <a:t>구매오더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생성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- Technical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시나리오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0" y="7150100"/>
            <a:ext cx="9525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400" y="2908300"/>
            <a:ext cx="3949700" cy="646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" y="2857500"/>
            <a:ext cx="16154400" cy="88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473200" y="5410200"/>
            <a:ext cx="7823200" cy="8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600700" y="5448300"/>
            <a:ext cx="7823200" cy="88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600" y="4711700"/>
            <a:ext cx="7835900" cy="88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600" y="7061200"/>
            <a:ext cx="7835900" cy="88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7302500" y="6083300"/>
            <a:ext cx="6540500" cy="88900"/>
          </a:xfrm>
          <a:prstGeom prst="rect">
            <a:avLst/>
          </a:prstGeom>
        </p:spPr>
      </p:pic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927258"/>
              </p:ext>
            </p:extLst>
          </p:nvPr>
        </p:nvGraphicFramePr>
        <p:xfrm>
          <a:off x="952500" y="1435100"/>
          <a:ext cx="16370300" cy="8204200"/>
        </p:xfrm>
        <a:graphic>
          <a:graphicData uri="http://schemas.openxmlformats.org/drawingml/2006/table">
            <a:tbl>
              <a:tblPr/>
              <a:tblGrid>
                <a:gridCol w="472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33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595959"/>
                          </a:solidFill>
                          <a:ea typeface="맑은 고딕" panose="020B0503020000020004" pitchFamily="50" charset="-127"/>
                        </a:rPr>
                        <a:t>흐름도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595959"/>
                          </a:solidFill>
                          <a:ea typeface="맑은 고딕" panose="020B0503020000020004" pitchFamily="50" charset="-127"/>
                        </a:rPr>
                        <a:t>요구기능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595959"/>
                          </a:solidFill>
                          <a:ea typeface="맑은 고딕" panose="020B0503020000020004" pitchFamily="50" charset="-127"/>
                        </a:rPr>
                        <a:t>데이터</a:t>
                      </a:r>
                      <a:r>
                        <a:rPr lang="en-US" sz="1800" b="0" i="0" u="none" strike="noStrike" dirty="0">
                          <a:solidFill>
                            <a:srgbClr val="595959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595959"/>
                          </a:solidFill>
                          <a:ea typeface="맑은 고딕" panose="020B0503020000020004" pitchFamily="50" charset="-127"/>
                        </a:rPr>
                        <a:t>프로세스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0"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1. </a:t>
                      </a:r>
                      <a:r>
                        <a:rPr lang="ko-KR" sz="1700" b="0" i="0" u="none" strike="noStrike" dirty="0" err="1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구매오더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생성시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자동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 err="1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채번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입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력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처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리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출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력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3300" y="2489200"/>
            <a:ext cx="4648200" cy="6883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839449" y="3222625"/>
            <a:ext cx="27559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 err="1">
                <a:solidFill>
                  <a:srgbClr val="444444"/>
                </a:solidFill>
                <a:latin typeface="+mn-ea"/>
              </a:rPr>
              <a:t>구매오더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생성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회사코드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구매처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증빙일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33200" y="5753100"/>
            <a:ext cx="13970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입력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생성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73142" y="3086100"/>
            <a:ext cx="2451100" cy="1168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 err="1">
                <a:solidFill>
                  <a:srgbClr val="444444"/>
                </a:solidFill>
                <a:latin typeface="+mn-ea"/>
              </a:rPr>
              <a:t>구매오더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조회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구매처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코드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회사코드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PO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번호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77600" y="8001000"/>
            <a:ext cx="20955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 err="1">
                <a:solidFill>
                  <a:srgbClr val="444444"/>
                </a:solidFill>
                <a:latin typeface="+mn-ea"/>
              </a:rPr>
              <a:t>구매오더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생성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 err="1">
                <a:solidFill>
                  <a:srgbClr val="444444"/>
                </a:solidFill>
                <a:latin typeface="+mn-ea"/>
              </a:rPr>
              <a:t>구매오더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아이템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82799" y="8001000"/>
            <a:ext cx="1941443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 err="1">
                <a:solidFill>
                  <a:srgbClr val="444444"/>
                </a:solidFill>
                <a:latin typeface="+mn-ea"/>
              </a:rPr>
              <a:t>구매오더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조회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 err="1">
                <a:solidFill>
                  <a:srgbClr val="444444"/>
                </a:solidFill>
                <a:latin typeface="+mn-ea"/>
              </a:rPr>
              <a:t>구매오더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정보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379700" y="5753100"/>
            <a:ext cx="6985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조회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0" y="4927600"/>
            <a:ext cx="71501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562600" y="3873500"/>
            <a:ext cx="71628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000" b="0" i="0" u="none" strike="noStrike" spc="-400">
                <a:solidFill>
                  <a:srgbClr val="6A7E74"/>
                </a:solidFill>
                <a:latin typeface="+mn-ea"/>
              </a:rPr>
              <a:t>4. </a:t>
            </a:r>
            <a:r>
              <a:rPr lang="ko-KR" sz="6000" b="0" i="0" u="none" strike="noStrike" spc="-400">
                <a:solidFill>
                  <a:srgbClr val="6A7E74"/>
                </a:solidFill>
                <a:latin typeface="+mn-ea"/>
              </a:rPr>
              <a:t>입고</a:t>
            </a:r>
            <a:r>
              <a:rPr lang="en-US" sz="6000" b="0" i="0" u="none" strike="noStrike" spc="-400">
                <a:solidFill>
                  <a:srgbClr val="6A7E74"/>
                </a:solidFill>
                <a:latin typeface="+mn-ea"/>
              </a:rPr>
              <a:t> </a:t>
            </a:r>
            <a:r>
              <a:rPr lang="ko-KR" sz="6000" b="0" i="0" u="none" strike="noStrike" spc="-400">
                <a:solidFill>
                  <a:srgbClr val="6A7E74"/>
                </a:solidFill>
                <a:latin typeface="+mn-ea"/>
              </a:rPr>
              <a:t>처리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68400"/>
            <a:ext cx="163830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77900" y="774700"/>
            <a:ext cx="44196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spc="-100">
                <a:solidFill>
                  <a:srgbClr val="BACCC3"/>
                </a:solidFill>
                <a:latin typeface="+mn-ea"/>
              </a:rPr>
              <a:t>Chapter 4.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" y="1435100"/>
            <a:ext cx="16357600" cy="8115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260600" y="482600"/>
            <a:ext cx="73914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spc="-100">
                <a:solidFill>
                  <a:srgbClr val="6A7E74"/>
                </a:solidFill>
                <a:latin typeface="+mn-ea"/>
              </a:rPr>
              <a:t>입고</a:t>
            </a:r>
            <a:r>
              <a:rPr lang="en-US" sz="4000" b="0" i="0" u="none" strike="noStrike" spc="-100">
                <a:solidFill>
                  <a:srgbClr val="6A7E74"/>
                </a:solidFill>
                <a:latin typeface="+mn-ea"/>
              </a:rPr>
              <a:t> </a:t>
            </a:r>
            <a:r>
              <a:rPr lang="ko-KR" sz="4000" b="0" i="0" u="none" strike="noStrike" spc="-100">
                <a:solidFill>
                  <a:srgbClr val="6A7E74"/>
                </a:solidFill>
                <a:latin typeface="+mn-ea"/>
              </a:rPr>
              <a:t>처리</a:t>
            </a:r>
            <a:r>
              <a:rPr lang="en-US" sz="4000" b="0" i="0" u="none" strike="noStrike" spc="-100">
                <a:solidFill>
                  <a:srgbClr val="6A7E74"/>
                </a:solidFill>
                <a:latin typeface="+mn-ea"/>
              </a:rPr>
              <a:t> - Technical </a:t>
            </a:r>
            <a:r>
              <a:rPr lang="ko-KR" sz="4000" b="0" i="0" u="none" strike="noStrike" spc="-100">
                <a:solidFill>
                  <a:srgbClr val="6A7E74"/>
                </a:solidFill>
                <a:latin typeface="+mn-ea"/>
              </a:rPr>
              <a:t>시나리오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0" y="7150100"/>
            <a:ext cx="9525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400" y="2908300"/>
            <a:ext cx="3949700" cy="646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" y="2857500"/>
            <a:ext cx="16154400" cy="88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473200" y="5410200"/>
            <a:ext cx="7823200" cy="8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600700" y="5448300"/>
            <a:ext cx="7823200" cy="88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600" y="4711700"/>
            <a:ext cx="7835900" cy="88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600" y="7061200"/>
            <a:ext cx="7835900" cy="88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7302500" y="6083300"/>
            <a:ext cx="6540500" cy="88900"/>
          </a:xfrm>
          <a:prstGeom prst="rect">
            <a:avLst/>
          </a:prstGeom>
        </p:spPr>
      </p:pic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059933"/>
              </p:ext>
            </p:extLst>
          </p:nvPr>
        </p:nvGraphicFramePr>
        <p:xfrm>
          <a:off x="952500" y="1435100"/>
          <a:ext cx="16370300" cy="8204200"/>
        </p:xfrm>
        <a:graphic>
          <a:graphicData uri="http://schemas.openxmlformats.org/drawingml/2006/table">
            <a:tbl>
              <a:tblPr/>
              <a:tblGrid>
                <a:gridCol w="472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33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595959"/>
                          </a:solidFill>
                          <a:ea typeface="맑은 고딕" panose="020B0503020000020004" pitchFamily="50" charset="-127"/>
                        </a:rPr>
                        <a:t>흐름도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595959"/>
                          </a:solidFill>
                          <a:ea typeface="맑은 고딕" panose="020B0503020000020004" pitchFamily="50" charset="-127"/>
                        </a:rPr>
                        <a:t>요구기능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595959"/>
                          </a:solidFill>
                          <a:ea typeface="맑은 고딕" panose="020B0503020000020004" pitchFamily="50" charset="-127"/>
                        </a:rPr>
                        <a:t>데이터</a:t>
                      </a:r>
                      <a:r>
                        <a:rPr lang="en-US" sz="1800" b="0" i="0" u="none" strike="noStrike" dirty="0">
                          <a:solidFill>
                            <a:srgbClr val="595959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595959"/>
                          </a:solidFill>
                          <a:ea typeface="맑은 고딕" panose="020B0503020000020004" pitchFamily="50" charset="-127"/>
                        </a:rPr>
                        <a:t>프로세스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0"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1.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입고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문서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생성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시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자동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 err="1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채번</a:t>
                      </a:r>
                      <a:endParaRPr lang="ko-KR" sz="1700" b="0" i="0" u="none" strike="noStrike" dirty="0">
                        <a:solidFill>
                          <a:srgbClr val="787878"/>
                        </a:solidFill>
                        <a:ea typeface="맑은 고딕" panose="020B0503020000020004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ko-KR" sz="1700" b="0" i="0" u="none" strike="noStrike" dirty="0">
                        <a:solidFill>
                          <a:srgbClr val="787878"/>
                        </a:solidFill>
                        <a:ea typeface="맑은 고딕" panose="020B0503020000020004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2.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부분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입고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가능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ko-KR" sz="1700" b="0" i="0" u="none" strike="noStrike" dirty="0">
                        <a:solidFill>
                          <a:srgbClr val="787878"/>
                        </a:solidFill>
                        <a:ea typeface="맑은 고딕" panose="020B0503020000020004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3.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조회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시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입고문서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목록을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   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따라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문서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분리해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조회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 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700" b="0" i="0" u="none" strike="noStrike" dirty="0">
                        <a:solidFill>
                          <a:srgbClr val="787878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4.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입고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취소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기능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 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입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력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처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리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출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력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2438400"/>
            <a:ext cx="4635500" cy="7124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483988" y="3254375"/>
            <a:ext cx="33147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입고문서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생성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 err="1">
                <a:solidFill>
                  <a:srgbClr val="444444"/>
                </a:solidFill>
                <a:latin typeface="+mn-ea"/>
              </a:rPr>
              <a:t>구매오더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플랜트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입고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처리일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33200" y="5753100"/>
            <a:ext cx="13208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입력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생성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03400" y="3255617"/>
            <a:ext cx="21971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입고문서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조회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 err="1">
                <a:solidFill>
                  <a:srgbClr val="444444"/>
                </a:solidFill>
                <a:latin typeface="+mn-ea"/>
              </a:rPr>
              <a:t>구매오더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플랜트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24039" y="7992993"/>
            <a:ext cx="21336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입고문서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생성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입고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목록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597822" y="7956550"/>
            <a:ext cx="21336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입고문서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조회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입고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문서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정보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113000" y="5715000"/>
            <a:ext cx="13208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조회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수정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F1B55-10E6-6FD8-1413-93DFBD4F9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9476B72-8818-27BE-AB45-6142554279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83D73E5-F1F4-1E14-C76A-4DB850F71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68400"/>
            <a:ext cx="163830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CD64C9E3-ED50-D99A-0FFA-23208F63BD74}"/>
              </a:ext>
            </a:extLst>
          </p:cNvPr>
          <p:cNvSpPr txBox="1"/>
          <p:nvPr/>
        </p:nvSpPr>
        <p:spPr>
          <a:xfrm>
            <a:off x="965200" y="774700"/>
            <a:ext cx="44196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spc="-100" dirty="0">
                <a:solidFill>
                  <a:srgbClr val="BACCC3"/>
                </a:solidFill>
                <a:latin typeface="+mn-ea"/>
              </a:rPr>
              <a:t>Chapter </a:t>
            </a:r>
            <a:r>
              <a:rPr lang="en-US" altLang="ko-KR" sz="2000" b="0" i="0" u="none" strike="noStrike" spc="-100" dirty="0">
                <a:solidFill>
                  <a:srgbClr val="BACCC3"/>
                </a:solidFill>
                <a:latin typeface="+mn-ea"/>
              </a:rPr>
              <a:t>4</a:t>
            </a:r>
            <a:r>
              <a:rPr lang="en-US" sz="2000" b="0" i="0" u="none" strike="noStrike" spc="-100" dirty="0">
                <a:solidFill>
                  <a:srgbClr val="BACCC3"/>
                </a:solidFill>
                <a:latin typeface="+mn-ea"/>
              </a:rPr>
              <a:t>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6E3D47-0AEE-F316-7133-90456A98E446}"/>
              </a:ext>
            </a:extLst>
          </p:cNvPr>
          <p:cNvSpPr txBox="1"/>
          <p:nvPr/>
        </p:nvSpPr>
        <p:spPr>
          <a:xfrm>
            <a:off x="2260600" y="482600"/>
            <a:ext cx="9017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000" spc="-100" dirty="0">
                <a:solidFill>
                  <a:srgbClr val="6A7E74"/>
                </a:solidFill>
                <a:latin typeface="+mn-ea"/>
              </a:rPr>
              <a:t>입고 처리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-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자재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</a:t>
            </a:r>
            <a:r>
              <a:rPr lang="ko-KR" sz="4000" b="0" i="0" u="none" strike="noStrike" spc="-100" dirty="0">
                <a:solidFill>
                  <a:srgbClr val="6A7E74"/>
                </a:solidFill>
                <a:latin typeface="+mn-ea"/>
              </a:rPr>
              <a:t>이동</a:t>
            </a:r>
            <a:r>
              <a:rPr lang="en-US" sz="4000" b="0" i="0" u="none" strike="noStrike" spc="-100" dirty="0">
                <a:solidFill>
                  <a:srgbClr val="6A7E74"/>
                </a:solidFill>
                <a:latin typeface="+mn-ea"/>
              </a:rPr>
              <a:t> </a:t>
            </a:r>
            <a:r>
              <a:rPr lang="ko-KR" altLang="en-US" sz="4000" spc="-100" dirty="0">
                <a:solidFill>
                  <a:srgbClr val="6A7E74"/>
                </a:solidFill>
                <a:latin typeface="+mn-ea"/>
              </a:rPr>
              <a:t>유형</a:t>
            </a:r>
            <a:endParaRPr lang="ko-KR" sz="4000" b="0" i="0" u="none" strike="noStrike" spc="-100" dirty="0">
              <a:solidFill>
                <a:srgbClr val="6A7E74"/>
              </a:solidFill>
              <a:latin typeface="+mn-ea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71CC107-6468-1D76-AB01-C1D43F282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51100"/>
            <a:ext cx="13792200" cy="12446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1379282F-85DC-F3F3-190D-1A26DC499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" y="2590800"/>
            <a:ext cx="952500" cy="9525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C9C1C290-0D78-318E-16A9-55DFF17C00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75100"/>
            <a:ext cx="13792200" cy="1244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0D9E703D-F6A8-F1E7-4D97-9C235F935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" y="4114800"/>
            <a:ext cx="952500" cy="9525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C8099E5-0C93-A3ED-739A-C811E6649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486400"/>
            <a:ext cx="13792200" cy="12446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BC91A67-742A-3848-395C-D0CADE413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" y="5626100"/>
            <a:ext cx="952500" cy="9525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2EF78F5F-CCA0-7007-5985-CF7EA6D7D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7010400"/>
            <a:ext cx="13792200" cy="1244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16519334-7126-47D4-2894-047CA9BBD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" y="7150100"/>
            <a:ext cx="952500" cy="9525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3DBBCB93-EBDE-1B8C-16CA-2F88A91AAD1B}"/>
              </a:ext>
            </a:extLst>
          </p:cNvPr>
          <p:cNvSpPr txBox="1"/>
          <p:nvPr/>
        </p:nvSpPr>
        <p:spPr>
          <a:xfrm>
            <a:off x="952500" y="2832100"/>
            <a:ext cx="2540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6A7E74"/>
                </a:solidFill>
                <a:latin typeface="+mn-ea"/>
              </a:rPr>
              <a:t>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4050E31-F0AE-C65C-3F33-1430B10B0E4D}"/>
              </a:ext>
            </a:extLst>
          </p:cNvPr>
          <p:cNvSpPr txBox="1"/>
          <p:nvPr/>
        </p:nvSpPr>
        <p:spPr>
          <a:xfrm>
            <a:off x="914400" y="4356100"/>
            <a:ext cx="330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6A7E74"/>
                </a:solidFill>
                <a:latin typeface="+mn-ea"/>
              </a:rPr>
              <a:t>2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71B377C-575E-A3A1-951A-ACD461AA688A}"/>
              </a:ext>
            </a:extLst>
          </p:cNvPr>
          <p:cNvSpPr txBox="1"/>
          <p:nvPr/>
        </p:nvSpPr>
        <p:spPr>
          <a:xfrm>
            <a:off x="914400" y="5867400"/>
            <a:ext cx="304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6A7E74"/>
                </a:solidFill>
                <a:latin typeface="+mn-ea"/>
              </a:rPr>
              <a:t>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98D2FF8-8098-9F0E-B484-8F942E9C7B8C}"/>
              </a:ext>
            </a:extLst>
          </p:cNvPr>
          <p:cNvSpPr txBox="1"/>
          <p:nvPr/>
        </p:nvSpPr>
        <p:spPr>
          <a:xfrm>
            <a:off x="901700" y="7391400"/>
            <a:ext cx="317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6A7E74"/>
                </a:solidFill>
                <a:latin typeface="+mn-ea"/>
              </a:rPr>
              <a:t>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2F756FC-F61C-43C8-0151-D8A86EBCE0AE}"/>
              </a:ext>
            </a:extLst>
          </p:cNvPr>
          <p:cNvSpPr txBox="1"/>
          <p:nvPr/>
        </p:nvSpPr>
        <p:spPr>
          <a:xfrm>
            <a:off x="2006600" y="2806700"/>
            <a:ext cx="6832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444444"/>
                </a:solidFill>
                <a:latin typeface="+mn-ea"/>
              </a:rPr>
              <a:t>완제품 생산 입고 </a:t>
            </a:r>
            <a:r>
              <a:rPr lang="en-US" altLang="ko-KR" sz="3200" b="0" i="0" u="none" strike="noStrike" dirty="0">
                <a:solidFill>
                  <a:srgbClr val="444444"/>
                </a:solidFill>
                <a:latin typeface="+mn-ea"/>
              </a:rPr>
              <a:t>101</a:t>
            </a:r>
            <a:r>
              <a:rPr lang="ko-KR" alt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en-US" altLang="ko-KR" sz="3200" b="0" i="0" u="none" strike="noStrike" dirty="0">
                <a:solidFill>
                  <a:srgbClr val="444444"/>
                </a:solidFill>
                <a:latin typeface="+mn-ea"/>
              </a:rPr>
              <a:t>&lt;-&gt;</a:t>
            </a:r>
            <a:r>
              <a:rPr lang="ko-KR" altLang="en-US" sz="3200" b="0" i="0" u="none" strike="noStrike" dirty="0">
                <a:solidFill>
                  <a:srgbClr val="444444"/>
                </a:solidFill>
                <a:latin typeface="+mn-ea"/>
              </a:rPr>
              <a:t> 취소 </a:t>
            </a:r>
            <a:r>
              <a:rPr lang="en-US" altLang="ko-KR" sz="3200" b="0" i="0" u="none" strike="noStrike" dirty="0">
                <a:solidFill>
                  <a:srgbClr val="444444"/>
                </a:solidFill>
                <a:latin typeface="+mn-ea"/>
              </a:rPr>
              <a:t>102</a:t>
            </a:r>
            <a:endParaRPr lang="ko-KR" sz="3200" b="0" i="0" u="none" strike="noStrike" dirty="0">
              <a:solidFill>
                <a:srgbClr val="444444"/>
              </a:solidFill>
              <a:latin typeface="+mn-ea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AEA912C-33B4-A82E-CBDC-C5705DA403AC}"/>
              </a:ext>
            </a:extLst>
          </p:cNvPr>
          <p:cNvSpPr txBox="1"/>
          <p:nvPr/>
        </p:nvSpPr>
        <p:spPr>
          <a:xfrm>
            <a:off x="1955800" y="7366000"/>
            <a:ext cx="89408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 err="1">
                <a:solidFill>
                  <a:srgbClr val="FFFFFF"/>
                </a:solidFill>
                <a:latin typeface="+mn-ea"/>
              </a:rPr>
              <a:t>구매오더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+mn-ea"/>
              </a:rPr>
              <a:t> 입고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+mn-ea"/>
              </a:rPr>
              <a:t>(101)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+mn-ea"/>
              </a:rPr>
              <a:t>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+mn-ea"/>
              </a:rPr>
              <a:t>&lt;-&gt;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+mn-ea"/>
              </a:rPr>
              <a:t> 취소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+mn-ea"/>
              </a:rPr>
              <a:t>(102),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+mn-ea"/>
              </a:rPr>
              <a:t> 반품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+mn-ea"/>
              </a:rPr>
              <a:t>(122)</a:t>
            </a:r>
            <a:endParaRPr lang="ko-KR" sz="3200" b="0" i="0" u="none" strike="noStrike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E62358E-CF53-7DB2-EA5E-60C48A0420D4}"/>
              </a:ext>
            </a:extLst>
          </p:cNvPr>
          <p:cNvSpPr txBox="1"/>
          <p:nvPr/>
        </p:nvSpPr>
        <p:spPr>
          <a:xfrm>
            <a:off x="2006600" y="4330700"/>
            <a:ext cx="51308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+mn-ea"/>
              </a:rPr>
              <a:t>완제품 냉동 창고 이동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+mn-ea"/>
              </a:rPr>
              <a:t>311</a:t>
            </a:r>
            <a:endParaRPr lang="ko-KR" sz="3200" b="0" i="0" u="none" strike="noStrike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7EB5337-E27A-8EAD-D85B-676E085183AE}"/>
              </a:ext>
            </a:extLst>
          </p:cNvPr>
          <p:cNvSpPr txBox="1"/>
          <p:nvPr/>
        </p:nvSpPr>
        <p:spPr>
          <a:xfrm>
            <a:off x="1943100" y="5842000"/>
            <a:ext cx="117729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444444"/>
                </a:solidFill>
                <a:latin typeface="+mn-ea"/>
              </a:rPr>
              <a:t>다른 공장으로 이동 </a:t>
            </a:r>
            <a:r>
              <a:rPr lang="en-US" altLang="ko-KR" sz="3200" b="0" i="0" u="none" strike="noStrike" dirty="0">
                <a:solidFill>
                  <a:srgbClr val="444444"/>
                </a:solidFill>
                <a:latin typeface="+mn-ea"/>
              </a:rPr>
              <a:t>303(</a:t>
            </a:r>
            <a:r>
              <a:rPr lang="ko-KR" altLang="en-US" sz="3200" b="0" i="0" u="none" strike="noStrike" dirty="0">
                <a:solidFill>
                  <a:srgbClr val="444444"/>
                </a:solidFill>
                <a:latin typeface="+mn-ea"/>
              </a:rPr>
              <a:t>출고</a:t>
            </a:r>
            <a:r>
              <a:rPr lang="en-US" altLang="ko-KR" sz="3200" b="0" i="0" u="none" strike="noStrike" dirty="0">
                <a:solidFill>
                  <a:srgbClr val="444444"/>
                </a:solidFill>
                <a:latin typeface="+mn-ea"/>
              </a:rPr>
              <a:t>)</a:t>
            </a:r>
            <a:r>
              <a:rPr lang="ko-KR" alt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en-US" altLang="ko-KR" sz="3200" b="0" i="0" u="none" strike="noStrike" dirty="0">
                <a:solidFill>
                  <a:srgbClr val="444444"/>
                </a:solidFill>
                <a:latin typeface="+mn-ea"/>
              </a:rPr>
              <a:t>-&gt;</a:t>
            </a:r>
            <a:r>
              <a:rPr lang="ko-KR" alt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en-US" altLang="ko-KR" sz="3200" b="0" i="0" u="none" strike="noStrike" dirty="0">
                <a:solidFill>
                  <a:srgbClr val="444444"/>
                </a:solidFill>
                <a:latin typeface="+mn-ea"/>
              </a:rPr>
              <a:t>305(</a:t>
            </a:r>
            <a:r>
              <a:rPr lang="ko-KR" altLang="en-US" sz="3200" b="0" i="0" u="none" strike="noStrike" dirty="0">
                <a:solidFill>
                  <a:srgbClr val="444444"/>
                </a:solidFill>
                <a:latin typeface="+mn-ea"/>
              </a:rPr>
              <a:t>입고</a:t>
            </a:r>
            <a:r>
              <a:rPr lang="en-US" altLang="ko-KR" sz="3200" b="0" i="0" u="none" strike="noStrike" dirty="0">
                <a:solidFill>
                  <a:srgbClr val="444444"/>
                </a:solidFill>
                <a:latin typeface="+mn-ea"/>
              </a:rPr>
              <a:t>)</a:t>
            </a:r>
            <a:r>
              <a:rPr lang="ko-KR" alt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en-US" altLang="ko-KR" sz="3200" b="0" i="0" u="none" strike="noStrike" dirty="0">
                <a:solidFill>
                  <a:srgbClr val="444444"/>
                </a:solidFill>
                <a:latin typeface="+mn-ea"/>
              </a:rPr>
              <a:t>&lt;-&gt;</a:t>
            </a:r>
            <a:r>
              <a:rPr lang="ko-KR" altLang="en-US" sz="3200" b="0" i="0" u="none" strike="noStrike" dirty="0">
                <a:solidFill>
                  <a:srgbClr val="444444"/>
                </a:solidFill>
                <a:latin typeface="+mn-ea"/>
              </a:rPr>
              <a:t> 취소 </a:t>
            </a:r>
            <a:r>
              <a:rPr lang="en-US" altLang="ko-KR" sz="3200" b="0" i="0" u="none" strike="noStrike" dirty="0">
                <a:solidFill>
                  <a:srgbClr val="444444"/>
                </a:solidFill>
                <a:latin typeface="+mn-ea"/>
              </a:rPr>
              <a:t>304,</a:t>
            </a:r>
            <a:r>
              <a:rPr lang="ko-KR" altLang="en-US" sz="3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en-US" altLang="ko-KR" sz="3200" b="0" i="0" u="none" strike="noStrike" dirty="0">
                <a:solidFill>
                  <a:srgbClr val="444444"/>
                </a:solidFill>
                <a:latin typeface="+mn-ea"/>
              </a:rPr>
              <a:t>306</a:t>
            </a:r>
            <a:endParaRPr lang="ko-KR" sz="3200" b="0" i="0" u="none" strike="noStrike" dirty="0">
              <a:solidFill>
                <a:srgbClr val="44444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5558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0" y="4927600"/>
            <a:ext cx="71501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562600" y="3873500"/>
            <a:ext cx="71628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000" b="0" i="0" u="none" strike="noStrike" spc="-400">
                <a:solidFill>
                  <a:srgbClr val="6A7E74"/>
                </a:solidFill>
                <a:latin typeface="+mn-ea"/>
              </a:rPr>
              <a:t>5. </a:t>
            </a:r>
            <a:r>
              <a:rPr lang="ko-KR" sz="6000" b="0" i="0" u="none" strike="noStrike" spc="-400">
                <a:solidFill>
                  <a:srgbClr val="6A7E74"/>
                </a:solidFill>
                <a:latin typeface="+mn-ea"/>
              </a:rPr>
              <a:t>송장</a:t>
            </a:r>
            <a:r>
              <a:rPr lang="en-US" sz="6000" b="0" i="0" u="none" strike="noStrike" spc="-400">
                <a:solidFill>
                  <a:srgbClr val="6A7E74"/>
                </a:solidFill>
                <a:latin typeface="+mn-ea"/>
              </a:rPr>
              <a:t> </a:t>
            </a:r>
            <a:r>
              <a:rPr lang="ko-KR" sz="6000" b="0" i="0" u="none" strike="noStrike" spc="-400">
                <a:solidFill>
                  <a:srgbClr val="6A7E74"/>
                </a:solidFill>
                <a:latin typeface="+mn-ea"/>
              </a:rPr>
              <a:t>처리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68400"/>
            <a:ext cx="163830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77900" y="774700"/>
            <a:ext cx="44196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spc="-100" dirty="0">
                <a:solidFill>
                  <a:srgbClr val="BACCC3"/>
                </a:solidFill>
                <a:latin typeface="+mn-ea"/>
              </a:rPr>
              <a:t>Chapter 5.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" y="1435100"/>
            <a:ext cx="16357600" cy="8115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260600" y="482600"/>
            <a:ext cx="73914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spc="-100">
                <a:solidFill>
                  <a:srgbClr val="6A7E74"/>
                </a:solidFill>
                <a:latin typeface="+mn-ea"/>
              </a:rPr>
              <a:t>송장</a:t>
            </a:r>
            <a:r>
              <a:rPr lang="en-US" sz="4000" b="0" i="0" u="none" strike="noStrike" spc="-100">
                <a:solidFill>
                  <a:srgbClr val="6A7E74"/>
                </a:solidFill>
                <a:latin typeface="+mn-ea"/>
              </a:rPr>
              <a:t> </a:t>
            </a:r>
            <a:r>
              <a:rPr lang="ko-KR" sz="4000" b="0" i="0" u="none" strike="noStrike" spc="-100">
                <a:solidFill>
                  <a:srgbClr val="6A7E74"/>
                </a:solidFill>
                <a:latin typeface="+mn-ea"/>
              </a:rPr>
              <a:t>처리</a:t>
            </a:r>
            <a:r>
              <a:rPr lang="en-US" sz="4000" b="0" i="0" u="none" strike="noStrike" spc="-100">
                <a:solidFill>
                  <a:srgbClr val="6A7E74"/>
                </a:solidFill>
                <a:latin typeface="+mn-ea"/>
              </a:rPr>
              <a:t> - Technical </a:t>
            </a:r>
            <a:r>
              <a:rPr lang="ko-KR" sz="4000" b="0" i="0" u="none" strike="noStrike" spc="-100">
                <a:solidFill>
                  <a:srgbClr val="6A7E74"/>
                </a:solidFill>
                <a:latin typeface="+mn-ea"/>
              </a:rPr>
              <a:t>시나리오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0" y="7150100"/>
            <a:ext cx="9525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400" y="2908300"/>
            <a:ext cx="3949700" cy="646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" y="2857500"/>
            <a:ext cx="16154400" cy="88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473200" y="5410200"/>
            <a:ext cx="7823200" cy="8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600700" y="5448300"/>
            <a:ext cx="7823200" cy="88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600" y="4711700"/>
            <a:ext cx="7835900" cy="88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600" y="7061200"/>
            <a:ext cx="7835900" cy="88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7302500" y="6083300"/>
            <a:ext cx="6540500" cy="88900"/>
          </a:xfrm>
          <a:prstGeom prst="rect">
            <a:avLst/>
          </a:prstGeom>
        </p:spPr>
      </p:pic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277298"/>
              </p:ext>
            </p:extLst>
          </p:nvPr>
        </p:nvGraphicFramePr>
        <p:xfrm>
          <a:off x="952500" y="1435100"/>
          <a:ext cx="16370300" cy="8204200"/>
        </p:xfrm>
        <a:graphic>
          <a:graphicData uri="http://schemas.openxmlformats.org/drawingml/2006/table">
            <a:tbl>
              <a:tblPr/>
              <a:tblGrid>
                <a:gridCol w="472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33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595959"/>
                          </a:solidFill>
                          <a:ea typeface="맑은 고딕" panose="020B0503020000020004" pitchFamily="50" charset="-127"/>
                        </a:rPr>
                        <a:t>흐름도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595959"/>
                          </a:solidFill>
                          <a:ea typeface="맑은 고딕" panose="020B0503020000020004" pitchFamily="50" charset="-127"/>
                        </a:rPr>
                        <a:t>요구기능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0" i="0" u="none" strike="noStrike" dirty="0">
                          <a:solidFill>
                            <a:srgbClr val="595959"/>
                          </a:solidFill>
                          <a:ea typeface="맑은 고딕" panose="020B0503020000020004" pitchFamily="50" charset="-127"/>
                        </a:rPr>
                        <a:t>데이터</a:t>
                      </a:r>
                      <a:r>
                        <a:rPr lang="en-US" sz="1800" b="0" i="0" u="none" strike="noStrike" dirty="0">
                          <a:solidFill>
                            <a:srgbClr val="595959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595959"/>
                          </a:solidFill>
                          <a:ea typeface="맑은 고딕" panose="020B0503020000020004" pitchFamily="50" charset="-127"/>
                        </a:rPr>
                        <a:t>프로세스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0"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1.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송장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문서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생성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시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자동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 err="1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채번</a:t>
                      </a:r>
                      <a:endParaRPr lang="en-US" altLang="ko-KR" sz="1700" b="0" i="0" u="none" strike="noStrike" dirty="0">
                        <a:solidFill>
                          <a:srgbClr val="787878"/>
                        </a:solidFill>
                        <a:ea typeface="맑은 고딕" panose="020B0503020000020004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altLang="ko-KR" sz="1700" b="0" i="0" u="none" strike="noStrike" dirty="0">
                        <a:solidFill>
                          <a:srgbClr val="787878"/>
                        </a:solidFill>
                        <a:ea typeface="맑은 고딕" panose="020B0503020000020004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alt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2.</a:t>
                      </a:r>
                      <a:r>
                        <a:rPr lang="ko-KR" altLang="en-US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700" b="0" i="0" u="none" strike="noStrike" dirty="0" err="1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구매오더</a:t>
                      </a:r>
                      <a:r>
                        <a:rPr lang="ko-KR" altLang="en-US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 기반 송장 처리</a:t>
                      </a:r>
                      <a:endParaRPr lang="ko-KR" sz="1700" b="0" i="0" u="none" strike="noStrike" dirty="0">
                        <a:solidFill>
                          <a:srgbClr val="787878"/>
                        </a:solidFill>
                        <a:ea typeface="맑은 고딕" panose="020B0503020000020004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ko-KR" sz="1700" b="0" i="0" u="none" strike="noStrike" dirty="0">
                        <a:solidFill>
                          <a:srgbClr val="787878"/>
                        </a:solidFill>
                        <a:ea typeface="맑은 고딕" panose="020B0503020000020004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altLang="ko-KR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3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부분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송장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가능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ko-KR" sz="1700" b="0" i="0" u="none" strike="noStrike" dirty="0">
                        <a:solidFill>
                          <a:srgbClr val="787878"/>
                        </a:solidFill>
                        <a:ea typeface="맑은 고딕" panose="020B0503020000020004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altLang="ko-KR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4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조회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시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송장문서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목록을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   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따라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문서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분리해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조회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 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en-US" sz="1700" b="0" i="0" u="none" strike="noStrike" dirty="0">
                        <a:solidFill>
                          <a:srgbClr val="787878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altLang="ko-KR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5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송장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취소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기능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endParaRPr lang="ko-KR" sz="1700" b="0" i="0" u="none" strike="noStrike" dirty="0">
                        <a:solidFill>
                          <a:srgbClr val="787878"/>
                        </a:solidFill>
                        <a:ea typeface="맑은 고딕" panose="020B0503020000020004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altLang="ko-KR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6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.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송장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취소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내역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확인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기능</a:t>
                      </a:r>
                      <a:r>
                        <a:rPr lang="en-US" sz="1700" b="0" i="0" u="none" strike="noStrike" dirty="0">
                          <a:solidFill>
                            <a:srgbClr val="787878"/>
                          </a:solidFill>
                          <a:latin typeface="맑은 고딕" panose="020B0503020000020004" pitchFamily="50" charset="-127"/>
                        </a:rPr>
                        <a:t> 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입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력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처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리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0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출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700" b="0" i="0" u="none" strike="noStrike" dirty="0">
                          <a:solidFill>
                            <a:srgbClr val="787878"/>
                          </a:solidFill>
                          <a:ea typeface="맑은 고딕" panose="020B0503020000020004" pitchFamily="50" charset="-127"/>
                        </a:rPr>
                        <a:t>력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900" y="2489200"/>
            <a:ext cx="4648200" cy="7035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998200" y="3251200"/>
            <a:ext cx="2451100" cy="1168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송장문서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생성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 err="1">
                <a:solidFill>
                  <a:srgbClr val="444444"/>
                </a:solidFill>
                <a:latin typeface="+mn-ea"/>
              </a:rPr>
              <a:t>구매오더번호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플랜트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송장처리일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33200" y="5753100"/>
            <a:ext cx="14351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입력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생성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478000" y="3263900"/>
            <a:ext cx="23749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송장문서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조회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 err="1">
                <a:solidFill>
                  <a:srgbClr val="444444"/>
                </a:solidFill>
                <a:latin typeface="+mn-ea"/>
              </a:rPr>
              <a:t>구매오더번호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플랜트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63300" y="7956550"/>
            <a:ext cx="20955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송장문서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생성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송장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문서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내역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592300" y="7956550"/>
            <a:ext cx="20955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[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송장문서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조회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]</a:t>
            </a:r>
          </a:p>
          <a:p>
            <a:pPr lvl="0" algn="ctr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송장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문서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정보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78050" y="5727700"/>
            <a:ext cx="15748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조회</a:t>
            </a:r>
            <a:r>
              <a:rPr lang="en-US" sz="2200" b="0" i="0" u="none" strike="noStrike" dirty="0">
                <a:solidFill>
                  <a:srgbClr val="444444"/>
                </a:solidFill>
                <a:latin typeface="+mn-ea"/>
              </a:rPr>
              <a:t>, </a:t>
            </a:r>
            <a:r>
              <a:rPr lang="ko-KR" sz="2200" b="0" i="0" u="none" strike="noStrike" dirty="0">
                <a:solidFill>
                  <a:srgbClr val="444444"/>
                </a:solidFill>
                <a:latin typeface="+mn-ea"/>
              </a:rPr>
              <a:t>수정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540</Words>
  <Application>Microsoft Macintosh PowerPoint</Application>
  <PresentationFormat>사용자 지정</PresentationFormat>
  <Paragraphs>185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Calibri</vt:lpstr>
      <vt:lpstr>맑은 고딕</vt:lpstr>
      <vt:lpstr>Pretendard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조재영</cp:lastModifiedBy>
  <cp:revision>9</cp:revision>
  <dcterms:created xsi:type="dcterms:W3CDTF">2006-08-16T00:00:00Z</dcterms:created>
  <dcterms:modified xsi:type="dcterms:W3CDTF">2025-12-15T08:30:15Z</dcterms:modified>
</cp:coreProperties>
</file>